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2" r:id="rId6"/>
    <p:sldId id="263" r:id="rId7"/>
    <p:sldId id="270" r:id="rId8"/>
    <p:sldId id="269" r:id="rId9"/>
    <p:sldId id="261" r:id="rId10"/>
    <p:sldId id="268" r:id="rId11"/>
    <p:sldId id="267" r:id="rId12"/>
    <p:sldId id="264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77F3C0-8FAC-19AA-8DC9-9F0DE65E5E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81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Personal - Individual Use</a:t>
            </a:r>
          </a:p>
        </p:txBody>
      </p:sp>
    </p:spTree>
    <p:extLst>
      <p:ext uri="{BB962C8B-B14F-4D97-AF65-F5344CB8AC3E}">
        <p14:creationId xmlns:p14="http://schemas.microsoft.com/office/powerpoint/2010/main" val="210677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gen-assets/15d15c7c-d0c0-4478-b491-ddd30988a0b6/c9ded13fea55438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2F36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822960" y="2286000"/>
            <a:ext cx="146304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23444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 Detector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261872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Update</a:t>
            </a:r>
          </a:p>
        </p:txBody>
      </p:sp>
      <p:sp>
        <p:nvSpPr>
          <p:cNvPr id="7" name="Text 4"/>
          <p:cNvSpPr/>
          <p:nvPr/>
        </p:nvSpPr>
        <p:spPr>
          <a:xfrm>
            <a:off x="1261872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Nitin Jose Paul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progress so far — problem statement and detector design are still open for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2130552"/>
            <a:ext cx="640080" cy="640080"/>
          </a:xfrm>
          <a:prstGeom prst="ellipse">
            <a:avLst/>
          </a:prstGeom>
          <a:solidFill>
            <a:srgbClr val="E2F2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agent/turn1/workspace/output/_anthropic_assets/icon-code-bdc9d0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677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48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bare-skeleton framework (</a:t>
            </a: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</a:t>
            </a:r>
            <a:r>
              <a:rPr lang="en-US" sz="1500" b="1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Logger)</a:t>
            </a:r>
            <a:endParaRPr lang="en-US" sz="1500" b="1" dirty="0">
              <a:solidFill>
                <a:srgbClr val="1F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73952" y="2130552"/>
            <a:ext cx="640080" cy="640080"/>
          </a:xfrm>
          <a:prstGeom prst="ellipse">
            <a:avLst/>
          </a:prstGeom>
          <a:solidFill>
            <a:srgbClr val="E2F2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agent/turn1/workspace/output/_anthropic_assets/icon-document-text-a0891e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267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48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Flaky Test Problem</a:t>
            </a:r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987552" y="3547872"/>
            <a:ext cx="640080" cy="640080"/>
          </a:xfrm>
          <a:prstGeom prst="ellipse">
            <a:avLst/>
          </a:prstGeom>
          <a:solidFill>
            <a:srgbClr val="E2F2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agent/turn1/workspace/output/_anthropic_assets/icon-bug-1bc63b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6850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566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Detector: </a:t>
            </a: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(proposed)</a:t>
            </a:r>
          </a:p>
        </p:txBody>
      </p:sp>
      <p:sp>
        <p:nvSpPr>
          <p:cNvPr id="17" name="Shape 12"/>
          <p:cNvSpPr/>
          <p:nvPr/>
        </p:nvSpPr>
        <p:spPr>
          <a:xfrm>
            <a:off x="6217920" y="32918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473952" y="3547872"/>
            <a:ext cx="640080" cy="640080"/>
          </a:xfrm>
          <a:prstGeom prst="ellipse">
            <a:avLst/>
          </a:prstGeom>
          <a:solidFill>
            <a:srgbClr val="E2F2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agent/turn1/workspace/output/_anthropic_assets/icon-shield-checkmark-15637e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368503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3566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Deep-Dive</a:t>
            </a: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by Stage</a:t>
            </a:r>
          </a:p>
        </p:txBody>
      </p:sp>
      <p:sp>
        <p:nvSpPr>
          <p:cNvPr id="21" name="Shape 15"/>
          <p:cNvSpPr/>
          <p:nvPr/>
        </p:nvSpPr>
        <p:spPr>
          <a:xfrm>
            <a:off x="731520" y="47091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87552" y="4965192"/>
            <a:ext cx="640080" cy="640080"/>
          </a:xfrm>
          <a:prstGeom prst="ellipse">
            <a:avLst/>
          </a:prstGeom>
          <a:solidFill>
            <a:srgbClr val="E2F2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agent/turn1/workspace/output/_anthropic_assets/icon-chart-multiple-dcd9c6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510235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4983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Foundation: </a:t>
            </a: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Bare Skeleton Framework</a:t>
            </a:r>
            <a:endParaRPr lang="en-US" sz="3400" b="1" dirty="0">
              <a:solidFill>
                <a:srgbClr val="02809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Pytest — a minimal, working skeleton with built-in run logging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minimal </a:t>
            </a: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skeleton with Selenium + 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700" dirty="0">
              <a:solidFill>
                <a:srgbClr val="1F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prove the structure works end-to-end and produce real 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JUnit XML reports to feed the detector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LogManager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shared logger per run, timestamped log file + console, per-test handlers on demand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34340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agent/turn1/workspace/output/_anthropic_assets/icon-chart-multiple-f9a999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79" y="260604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flaky_demo_suite/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base/     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setup &amp; teardown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pages/    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objects: locators &amp; actions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workflows/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multi-page flows (login)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utilities/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Logger, screenshots, status helpers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tests/    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fixtures, bootstrap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configfiles/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config settings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7FE3D8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logs/        </a:t>
            </a:r>
            <a:r>
              <a:rPr lang="en-US" sz="1150" b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execution logs</a:t>
            </a:r>
            <a:endParaRPr lang="en-US" sz="15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50" b="1">
                <a:solidFill>
                  <a:srgbClr val="FFC857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reports/     </a:t>
            </a:r>
            <a:r>
              <a:rPr lang="en-US" sz="1150" b="1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reports — detector input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5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Flaky Tests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pass/fail inconsistently with no code change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trust in CI — teams start ignoring red builds</a:t>
            </a:r>
            <a:r>
              <a:rPr lang="en-US" sz="170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(“just rerun it”)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</a:t>
            </a: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wasted engineering time, delayed releases</a:t>
            </a:r>
            <a:endParaRPr lang="en-US" sz="1700">
              <a:solidFill>
                <a:srgbClr val="E6F7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frameworks </a:t>
            </a:r>
            <a:r>
              <a:rPr lang="en-US" sz="170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</a:t>
            </a: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</a:t>
            </a:r>
            <a:r>
              <a:rPr lang="en-US" sz="170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 </a:t>
            </a:r>
            <a:r>
              <a:rPr lang="en-US" sz="17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reliability or trend</a:t>
            </a:r>
            <a:r>
              <a:rPr lang="en-US" sz="170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time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problem statement is a starting point for discussion today —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welcome</a:t>
            </a:r>
          </a:p>
        </p:txBody>
      </p:sp>
      <p:pic>
        <p:nvPicPr>
          <p:cNvPr id="6" name="Image 0" descr="/tmp/htmlgen-assets/15d15c7c-d0c0-4478-b491-ddd30988a0b6/5781c01b672f4d7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178308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 Detector — The Approach</a:t>
            </a: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(proposed)</a:t>
            </a:r>
            <a:endParaRPr lang="en-US" sz="3400" b="1" dirty="0">
              <a:solidFill>
                <a:srgbClr val="02809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 classifications — thresholds, rules and scope still open for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E2F2F1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agent/turn1/workspace/output/_anthropic_assets/icon-document-text-a0891e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86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3832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 pytest </a:t>
            </a: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</a:t>
            </a: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reports</a:t>
            </a: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(historical run data)</a:t>
            </a:r>
          </a:p>
        </p:txBody>
      </p:sp>
      <p:sp>
        <p:nvSpPr>
          <p:cNvPr id="9" name="Shape 6"/>
          <p:cNvSpPr/>
          <p:nvPr/>
        </p:nvSpPr>
        <p:spPr>
          <a:xfrm>
            <a:off x="3456432" y="201168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/agent/turn1/workspace/output/_anthropic_assets/icon-chart-multiple-dcd9c6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286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30752" y="33832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fail_rate</a:t>
            </a: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failure-signature variance</a:t>
            </a: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trend</a:t>
            </a:r>
          </a:p>
        </p:txBody>
      </p:sp>
      <p:sp>
        <p:nvSpPr>
          <p:cNvPr id="13" name="Shape 9"/>
          <p:cNvSpPr/>
          <p:nvPr/>
        </p:nvSpPr>
        <p:spPr>
          <a:xfrm>
            <a:off x="6181344" y="201168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E2F2F1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/agent/turn1/workspace/output/_anthropic_assets/icon-shield-checkmark-15637e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286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5664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455664" y="33832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 / Suspect / Flaky</a:t>
            </a:r>
          </a:p>
        </p:txBody>
      </p:sp>
      <p:sp>
        <p:nvSpPr>
          <p:cNvPr id="17" name="Shape 12"/>
          <p:cNvSpPr/>
          <p:nvPr/>
        </p:nvSpPr>
        <p:spPr>
          <a:xfrm>
            <a:off x="8906256" y="201168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/agent/turn1/workspace/output/_anthropic_assets/icon-arrow-trending-lines-2c99c4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2286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80576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80576" y="33832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summary, </a:t>
            </a: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reasons</a:t>
            </a: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gate: PASS / WARN / 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5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Deep-Dive: Stage by Stage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from reports to gate</a:t>
            </a:r>
            <a:endParaRPr lang="en-US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941832" y="2359152"/>
            <a:ext cx="36576" cy="3474720"/>
          </a:xfrm>
          <a:prstGeom prst="roundRect">
            <a:avLst/>
          </a:prstGeom>
          <a:solidFill>
            <a:srgbClr val="0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48840"/>
            <a:ext cx="420624" cy="420624"/>
          </a:xfrm>
          <a:prstGeom prst="ellipse">
            <a:avLst/>
          </a:prstGeom>
          <a:solidFill>
            <a:srgbClr val="0F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01515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600200" y="2066544"/>
            <a:ext cx="9692640" cy="3474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Calibri"/>
              </a:rPr>
              <a:t>Ingestion +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04872"/>
            <a:ext cx="969264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50">
                <a:solidFill>
                  <a:srgbClr val="CFE9E7"/>
                </a:solidFill>
                <a:latin typeface="Calibri"/>
              </a:rPr>
              <a:t>Parse pytest JUnit XML into canonical run records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017520"/>
            <a:ext cx="420624" cy="420624"/>
          </a:xfrm>
          <a:prstGeom prst="ellipse">
            <a:avLst/>
          </a:prstGeom>
          <a:solidFill>
            <a:srgbClr val="0F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IN" sz="1300" b="1">
                <a:solidFill>
                  <a:srgbClr val="01515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1600200" y="2935224"/>
            <a:ext cx="9692640" cy="3474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Calibri"/>
              </a:rPr>
              <a:t>Feature Extraction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600200" y="3273552"/>
            <a:ext cx="969264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350">
                <a:solidFill>
                  <a:srgbClr val="CFE9E7"/>
                </a:solidFill>
                <a:latin typeface="Calibri"/>
              </a:rPr>
              <a:t>fail_rate, signature_count, trend per test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886200"/>
            <a:ext cx="420624" cy="420624"/>
          </a:xfrm>
          <a:prstGeom prst="ellipse">
            <a:avLst/>
          </a:prstGeom>
          <a:solidFill>
            <a:srgbClr val="0F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IN" sz="1300" b="1">
                <a:solidFill>
                  <a:srgbClr val="01515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1600200" y="3803904"/>
            <a:ext cx="9692640" cy="3474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Calibri"/>
              </a:rPr>
              <a:t>Rule Engine + Scoring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600200" y="4142232"/>
            <a:ext cx="969264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350">
                <a:solidFill>
                  <a:srgbClr val="CFE9E7"/>
                </a:solidFill>
                <a:latin typeface="Calibri"/>
              </a:rPr>
              <a:t>Deterministic rules → Stable / Suspect / Flaky + confidence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754879"/>
            <a:ext cx="420624" cy="420624"/>
          </a:xfrm>
          <a:prstGeom prst="ellipse">
            <a:avLst/>
          </a:prstGeom>
          <a:solidFill>
            <a:srgbClr val="0F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IN" sz="1300" b="1">
                <a:solidFill>
                  <a:srgbClr val="01515C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1600200" y="4672583"/>
            <a:ext cx="9692640" cy="3474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Calibri"/>
              </a:rPr>
              <a:t>Impact + Gate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600200" y="5010912"/>
            <a:ext cx="969264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350">
                <a:solidFill>
                  <a:srgbClr val="CFE9E7"/>
                </a:solidFill>
                <a:latin typeface="Calibri"/>
              </a:rPr>
              <a:t>Roll up into one CI verdict: PASS / WARN / FAIL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5623560"/>
            <a:ext cx="420624" cy="420624"/>
          </a:xfrm>
          <a:prstGeom prst="ellipse">
            <a:avLst/>
          </a:prstGeom>
          <a:solidFill>
            <a:srgbClr val="0F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IN" sz="1300" b="1">
                <a:solidFill>
                  <a:srgbClr val="01515C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1600200" y="5541264"/>
            <a:ext cx="9692640" cy="3474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Calibri"/>
              </a:rPr>
              <a:t>Reports + CI Artifacts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600200" y="5879592"/>
            <a:ext cx="969264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350">
                <a:solidFill>
                  <a:srgbClr val="CFE9E7"/>
                </a:solidFill>
                <a:latin typeface="Calibri"/>
              </a:rPr>
              <a:t>JSON / CSV / HTML with a ranked insight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Ingestion + Normalization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Designed, Coding is in progress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files, one per historical test run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with Python’s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xml.etree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pytest dependency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&lt;testcase&gt; becomes a canonical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TestRunRecord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34340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agent/turn1/workspace/output/_anthropic_assets/icon-chart-multiple-f9a99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TestRunRecord</a:t>
            </a: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8080" y="2788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XML’s internal timestamp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test_id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::name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passed / failed / skipped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failure_signature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</a:t>
            </a: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type:message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→ &lt;num&gt;, so random values don’t create false-unique signatures</a:t>
            </a: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388E70FE-8D61-538B-7ED0-74D58D9AAECA}"/>
              </a:ext>
            </a:extLst>
          </p:cNvPr>
          <p:cNvSpPr/>
          <p:nvPr/>
        </p:nvSpPr>
        <p:spPr>
          <a:xfrm>
            <a:off x="685800" y="3968496"/>
            <a:ext cx="5605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built on the JUnit XML standard instead of </a:t>
            </a:r>
            <a:r>
              <a:rPr lang="en-US" sz="14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pytest's</a:t>
            </a: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internal APIs, the ingestion layer is framework-agnostic by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Feature Extraction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designed, not yet built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every unique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test_id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N runs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feed the rule engine in Stage 3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rerun_recovery_rate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deferred until pytest-rerunfailures is adopted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34340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agent/turn1/workspace/output/_anthropic_assets/icon-chart-multiple-f9a99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features</a:t>
            </a:r>
          </a:p>
        </p:txBody>
      </p:sp>
      <p:sp>
        <p:nvSpPr>
          <p:cNvPr id="9" name="Text 6"/>
          <p:cNvSpPr/>
          <p:nvPr/>
        </p:nvSpPr>
        <p:spPr>
          <a:xfrm>
            <a:off x="7498080" y="2788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fail_rate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failures / total runs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signature_count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distinct failure signatures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recent_fail_streak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consecutive recent failures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“root cause varies” vs “fails the same way”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 err="1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rerun_recovery_rate</a:t>
            </a: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needs real rerun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Rule Engine + Scoring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thresholds — no ML/AI needed </a:t>
            </a:r>
            <a:r>
              <a:rPr lang="en-US" sz="14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4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and auditable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black box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carries 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human-readable reasons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“2 distinct failure signatures across 10 runs”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proposed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70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locked or coded</a:t>
            </a:r>
          </a:p>
        </p:txBody>
      </p:sp>
      <p:sp>
        <p:nvSpPr>
          <p:cNvPr id="6" name="Text 4"/>
          <p:cNvSpPr/>
          <p:nvPr/>
        </p:nvSpPr>
        <p:spPr>
          <a:xfrm>
            <a:off x="70408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thresholds</a:t>
            </a:r>
          </a:p>
        </p:txBody>
      </p:sp>
      <p:sp>
        <p:nvSpPr>
          <p:cNvPr id="7" name="Shape 5"/>
          <p:cNvSpPr/>
          <p:nvPr/>
        </p:nvSpPr>
        <p:spPr>
          <a:xfrm>
            <a:off x="7040880" y="224028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0" y="24963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863840" y="2423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r>
              <a:rPr lang="en-US" sz="1300" b="1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fail_rate ≤ 10% AND signature_count ≤ 1</a:t>
            </a:r>
          </a:p>
        </p:txBody>
      </p:sp>
      <p:sp>
        <p:nvSpPr>
          <p:cNvPr id="10" name="Shape 8"/>
          <p:cNvSpPr/>
          <p:nvPr/>
        </p:nvSpPr>
        <p:spPr>
          <a:xfrm>
            <a:off x="7040880" y="32918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0" y="3547872"/>
            <a:ext cx="365760" cy="365760"/>
          </a:xfrm>
          <a:prstGeom prst="ellipse">
            <a:avLst/>
          </a:prstGeom>
          <a:solidFill>
            <a:srgbClr val="E9A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63840" y="3474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Suspect</a:t>
            </a: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everything in between</a:t>
            </a:r>
          </a:p>
        </p:txBody>
      </p:sp>
      <p:sp>
        <p:nvSpPr>
          <p:cNvPr id="13" name="Shape 11"/>
          <p:cNvSpPr/>
          <p:nvPr/>
        </p:nvSpPr>
        <p:spPr>
          <a:xfrm>
            <a:off x="7040880" y="434340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0" y="459943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863840" y="4526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</a:t>
            </a: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300" b="1" dirty="0" err="1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fail_rate</a:t>
            </a: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&gt; 30% OR </a:t>
            </a:r>
            <a:r>
              <a:rPr lang="en-US" sz="1300" b="1" dirty="0" err="1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signature_count</a:t>
            </a: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4: Impact + Gate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need to finalize design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per-test classifications into one </a:t>
            </a: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suite-level decision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flakiness_score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</a:t>
            </a: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1.0 + </a:t>
            </a: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0.5) / 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total_tests</a:t>
            </a:r>
            <a:endParaRPr lang="en-US" sz="1700" dirty="0">
              <a:solidFill>
                <a:srgbClr val="1F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CI — one actionable signal, not a wall of red/green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34340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agent/turn1/workspace/output/_anthropic_assets/icon-chart-multiple-f9a99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</a:p>
        </p:txBody>
      </p:sp>
      <p:sp>
        <p:nvSpPr>
          <p:cNvPr id="9" name="Text 6"/>
          <p:cNvSpPr/>
          <p:nvPr/>
        </p:nvSpPr>
        <p:spPr>
          <a:xfrm>
            <a:off x="7498080" y="2788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zero Flaky tests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— score ≤ 0.30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score &gt; 0.30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5: Reports + CI Artifacts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not yet built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summary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totals, trend vs previous window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test table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worst offenders first (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fail_rate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signature_count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confidence)</a:t>
            </a:r>
          </a:p>
          <a:p>
            <a:pPr marL="228600" indent="-228600">
              <a:lnSpc>
                <a:spcPts val="3000"/>
              </a:lnSpc>
              <a:spcAft>
                <a:spcPts val="1400"/>
              </a:spcAft>
              <a:buSzPct val="100000"/>
              <a:buFont typeface="Arial"/>
              <a:buChar char="●"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drilldown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 timeline, top signatures, suggested action</a:t>
            </a:r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434340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agent/turn1/workspace/output/_anthropic_assets/icon-chart-multiple-f9a99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for CI</a:t>
            </a:r>
          </a:p>
        </p:txBody>
      </p:sp>
      <p:sp>
        <p:nvSpPr>
          <p:cNvPr id="9" name="Text 6"/>
          <p:cNvSpPr/>
          <p:nvPr/>
        </p:nvSpPr>
        <p:spPr>
          <a:xfrm>
            <a:off x="7498080" y="2788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machine-readable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spreadsheet-friendly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5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published as a build artifact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Roadmap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2918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tests simulating stable / suspect / flaky behavior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2918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JUnit XML runs generated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2918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22960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Normalization is in progress</a:t>
            </a:r>
          </a:p>
        </p:txBody>
      </p:sp>
      <p:sp>
        <p:nvSpPr>
          <p:cNvPr id="100" name="Shape 3"/>
          <p:cNvSpPr/>
          <p:nvPr/>
        </p:nvSpPr>
        <p:spPr>
          <a:xfrm>
            <a:off x="731520" y="4114800"/>
            <a:ext cx="2514600" cy="1965960"/>
          </a:xfrm>
          <a:prstGeom prst="roundRect">
            <a:avLst>
              <a:gd name="adj" fmla="val 4348"/>
            </a:avLst>
          </a:prstGeom>
          <a:solidFill>
            <a:srgbClr val="028090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4"/>
          <p:cNvSpPr/>
          <p:nvPr/>
        </p:nvSpPr>
        <p:spPr>
          <a:xfrm>
            <a:off x="1005840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/>
          </a:p>
        </p:txBody>
      </p:sp>
      <p:sp>
        <p:nvSpPr>
          <p:cNvPr id="102" name="Text 5"/>
          <p:cNvSpPr/>
          <p:nvPr/>
        </p:nvSpPr>
        <p:spPr>
          <a:xfrm>
            <a:off x="1005840" y="48006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Parsing and normalization in progress</a:t>
            </a:r>
            <a:endParaRPr lang="en-US" sz="1300" dirty="0"/>
          </a:p>
        </p:txBody>
      </p:sp>
      <p:sp>
        <p:nvSpPr>
          <p:cNvPr id="103" name="Shape 6"/>
          <p:cNvSpPr/>
          <p:nvPr/>
        </p:nvSpPr>
        <p:spPr>
          <a:xfrm>
            <a:off x="3456432" y="4114800"/>
            <a:ext cx="2514600" cy="1965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7"/>
          <p:cNvSpPr/>
          <p:nvPr/>
        </p:nvSpPr>
        <p:spPr>
          <a:xfrm>
            <a:off x="3730752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/>
          </a:p>
        </p:txBody>
      </p:sp>
      <p:sp>
        <p:nvSpPr>
          <p:cNvPr id="105" name="Text 8"/>
          <p:cNvSpPr/>
          <p:nvPr/>
        </p:nvSpPr>
        <p:spPr>
          <a:xfrm>
            <a:off x="3730752" y="48006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+ rule engine + CI gate</a:t>
            </a:r>
            <a:endParaRPr lang="en-US" sz="1300"/>
          </a:p>
        </p:txBody>
      </p:sp>
      <p:sp>
        <p:nvSpPr>
          <p:cNvPr id="106" name="Shape 9"/>
          <p:cNvSpPr/>
          <p:nvPr/>
        </p:nvSpPr>
        <p:spPr>
          <a:xfrm>
            <a:off x="6181344" y="4114800"/>
            <a:ext cx="2514600" cy="1965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"/>
          <p:cNvSpPr/>
          <p:nvPr/>
        </p:nvSpPr>
        <p:spPr>
          <a:xfrm>
            <a:off x="6455664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/>
          </a:p>
        </p:txBody>
      </p:sp>
      <p:sp>
        <p:nvSpPr>
          <p:cNvPr id="108" name="Text 11"/>
          <p:cNvSpPr/>
          <p:nvPr/>
        </p:nvSpPr>
        <p:spPr>
          <a:xfrm>
            <a:off x="6455664" y="48006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plugin, HTML reports</a:t>
            </a:r>
            <a:endParaRPr lang="en-US" sz="1300"/>
          </a:p>
        </p:txBody>
      </p:sp>
      <p:sp>
        <p:nvSpPr>
          <p:cNvPr id="109" name="Shape 12"/>
          <p:cNvSpPr/>
          <p:nvPr/>
        </p:nvSpPr>
        <p:spPr>
          <a:xfrm>
            <a:off x="8906256" y="4114800"/>
            <a:ext cx="2514600" cy="1965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3"/>
          <p:cNvSpPr/>
          <p:nvPr/>
        </p:nvSpPr>
        <p:spPr>
          <a:xfrm>
            <a:off x="9180576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2000"/>
          </a:p>
        </p:txBody>
      </p:sp>
      <p:sp>
        <p:nvSpPr>
          <p:cNvPr id="111" name="Text 14"/>
          <p:cNvSpPr/>
          <p:nvPr/>
        </p:nvSpPr>
        <p:spPr>
          <a:xfrm>
            <a:off x="9180576" y="48006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summarization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4400" y="2880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Questions</a:t>
            </a:r>
          </a:p>
        </p:txBody>
      </p:sp>
      <p:sp>
        <p:nvSpPr>
          <p:cNvPr id="5" name="Text 2"/>
          <p:cNvSpPr/>
          <p:nvPr/>
        </p:nvSpPr>
        <p:spPr>
          <a:xfrm>
            <a:off x="914400" y="3749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Jose Paul  ·  Flaky Test Detector POC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914</Words>
  <Application>Microsoft Office PowerPoint</Application>
  <PresentationFormat>Widescreen</PresentationFormat>
  <Paragraphs>136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Jose Paul</dc:creator>
  <cp:lastModifiedBy>Nitin Jose Paul</cp:lastModifiedBy>
  <cp:revision>4</cp:revision>
  <dcterms:created xsi:type="dcterms:W3CDTF">2026-09-21T02:24:37Z</dcterms:created>
  <dcterms:modified xsi:type="dcterms:W3CDTF">2026-09-21T12:20:10Z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db2a94-1328-4cb2-b589-c6efe5808a7a_Enabled">
    <vt:lpwstr>true</vt:lpwstr>
  </property>
  <property fmtid="{D5CDD505-2E9C-101B-9397-08002B2CF9AE}" pid="3" name="MSIP_Label_08db2a94-1328-4cb2-b589-c6efe5808a7a_SetDate">
    <vt:lpwstr>2026-09-21T04:32:28Z</vt:lpwstr>
  </property>
  <property fmtid="{D5CDD505-2E9C-101B-9397-08002B2CF9AE}" pid="4" name="MSIP_Label_08db2a94-1328-4cb2-b589-c6efe5808a7a_Method">
    <vt:lpwstr>Privileged</vt:lpwstr>
  </property>
  <property fmtid="{D5CDD505-2E9C-101B-9397-08002B2CF9AE}" pid="5" name="MSIP_Label_08db2a94-1328-4cb2-b589-c6efe5808a7a_Name">
    <vt:lpwstr>Personal - Individual Use</vt:lpwstr>
  </property>
  <property fmtid="{D5CDD505-2E9C-101B-9397-08002B2CF9AE}" pid="6" name="MSIP_Label_08db2a94-1328-4cb2-b589-c6efe5808a7a_SiteId">
    <vt:lpwstr>258ac4e4-146a-411e-9dc8-79a9e12fd6da</vt:lpwstr>
  </property>
  <property fmtid="{D5CDD505-2E9C-101B-9397-08002B2CF9AE}" pid="7" name="MSIP_Label_08db2a94-1328-4cb2-b589-c6efe5808a7a_ActionId">
    <vt:lpwstr>55d32440-8e51-44f0-83cd-9445a85d42b4</vt:lpwstr>
  </property>
  <property fmtid="{D5CDD505-2E9C-101B-9397-08002B2CF9AE}" pid="8" name="MSIP_Label_08db2a94-1328-4cb2-b589-c6efe5808a7a_ContentBits">
    <vt:lpwstr>2</vt:lpwstr>
  </property>
  <property fmtid="{D5CDD505-2E9C-101B-9397-08002B2CF9AE}" pid="9" name="MSIP_Label_08db2a94-1328-4cb2-b589-c6efe5808a7a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Personal - Individual Use</vt:lpwstr>
  </property>
</Properties>
</file>